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e9851d2-8e3d-4213-8c05-554fbb21a83b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单项改进 — 收敛次数对比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平均收敛次数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基本ACO</c:v>
                </c:pt>
                <c:pt idx="1">
                  <c:v>自适应参数</c:v>
                </c:pt>
                <c:pt idx="2">
                  <c:v>遗传算法</c:v>
                </c:pt>
                <c:pt idx="3">
                  <c:v>2-opt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5.7</c:v>
                </c:pt>
                <c:pt idx="2">
                  <c:v>7.6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92aae10-f93f-42af-8dbb-988f61e2790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最优距离对比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平均最优距离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865.61</c:v>
                </c:pt>
                <c:pt idx="1">
                  <c:v>851.33</c:v>
                </c:pt>
                <c:pt idx="2">
                  <c:v>831.42</c:v>
                </c:pt>
                <c:pt idx="3">
                  <c:v>798.22</c:v>
                </c:pt>
                <c:pt idx="4">
                  <c:v>829.41</c:v>
                </c:pt>
                <c:pt idx="5">
                  <c:v>797.68</c:v>
                </c:pt>
                <c:pt idx="6">
                  <c:v>795.23</c:v>
                </c:pt>
                <c:pt idx="7">
                  <c:v>797.45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e6133e5-789e-48a6-a3b4-d3ab72b3d03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  <a:r>
              <a:t>8种算法组合 — 运行时间对比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平均运行时间(s)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基本ACO</c:v>
                </c:pt>
                <c:pt idx="1">
                  <c:v>自适应</c:v>
                </c:pt>
                <c:pt idx="2">
                  <c:v>遗传</c:v>
                </c:pt>
                <c:pt idx="3">
                  <c:v>2-opt</c:v>
                </c:pt>
                <c:pt idx="4">
                  <c:v>自适+遗传</c:v>
                </c:pt>
                <c:pt idx="5">
                  <c:v>自适+2opt</c:v>
                </c:pt>
                <c:pt idx="6">
                  <c:v>遗传+2opt</c:v>
                </c:pt>
                <c:pt idx="7">
                  <c:v>全融合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34.81</c:v>
                </c:pt>
                <c:pt idx="1">
                  <c:v>34.37</c:v>
                </c:pt>
                <c:pt idx="2">
                  <c:v>35.07</c:v>
                </c:pt>
                <c:pt idx="3">
                  <c:v>44.06</c:v>
                </c:pt>
                <c:pt idx="4">
                  <c:v>36.12</c:v>
                </c:pt>
                <c:pt idx="5">
                  <c:v>43.76</c:v>
                </c:pt>
                <c:pt idx="6">
                  <c:v>39.85</c:v>
                </c:pt>
                <c:pt idx="7">
                  <c:v>39.71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5767574-b28d-496e-9ebb-3228783f86f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尊敬的各位评委老师</a:t>
            </a:r>
            <a:r>
              <a:rPr lang="zh-CN" altLang="en-US"/>
              <a:t>好，我的毕业设计题目是《基于求解旅行商问题的蚁群算法的设计与实现》，下面我将从研究背景、理论基础、算法设计、系统实现、实验分析以及创新点与不足等方面进行汇报。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旅行商问题（</a:t>
            </a:r>
            <a:r>
              <a:rPr lang="en-US" altLang="zh-CN"/>
              <a:t>TSP）</a:t>
            </a:r>
            <a:r>
              <a:rPr lang="zh-CN" altLang="en-US"/>
              <a:t>是组合优化领域中最具代表性的</a:t>
            </a:r>
            <a:r>
              <a:rPr lang="en-US" altLang="zh-CN"/>
              <a:t>NP-hard</a:t>
            </a:r>
            <a:r>
              <a:rPr lang="zh-CN" altLang="en-US"/>
              <a:t>问题之一。该问题描述为：给定</a:t>
            </a:r>
            <a:r>
              <a:rPr lang="en-US" altLang="zh-CN"/>
              <a:t>n</a:t>
            </a:r>
            <a:r>
              <a:rPr lang="zh-CN" altLang="en-US"/>
              <a:t>个城市及两两之间的距离，寻找一条从某城市出发，经过所有城市恰好一次后返回起点的最短回路。</a:t>
            </a:r>
            <a:r>
              <a:rPr lang="en-US" altLang="zh-CN"/>
              <a:t>TSP</a:t>
            </a:r>
            <a:r>
              <a:rPr lang="zh-CN" altLang="en-US"/>
              <a:t>的求解复杂度随城市数量呈指数增长，对于</a:t>
            </a:r>
            <a:r>
              <a:rPr lang="en-US" altLang="zh-CN"/>
              <a:t>n</a:t>
            </a:r>
            <a:r>
              <a:rPr lang="zh-CN" altLang="en-US"/>
              <a:t>个城市，可能的回路数量为(</a:t>
            </a:r>
            <a:r>
              <a:rPr lang="en-US" altLang="zh-CN"/>
              <a:t>n-1)!/2，</a:t>
            </a:r>
            <a:r>
              <a:rPr lang="zh-CN" altLang="en-US"/>
              <a:t>当</a:t>
            </a:r>
            <a:r>
              <a:rPr lang="en-US" altLang="zh-CN"/>
              <a:t>n=20</a:t>
            </a:r>
            <a:r>
              <a:rPr lang="zh-CN" altLang="en-US"/>
              <a:t>时，路径数量已超过10^16，穷举法在实际中不可行。</a:t>
            </a:r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在现实生活中具有广泛的应用背景。在物流配送领域，可用于优化配送车辆的行驶路线，降低运输成本；在电路板制造中，可帮助确定最优钻孔顺序以提高生产效率；此外，</a:t>
            </a:r>
            <a:r>
              <a:rPr lang="en-US" altLang="zh-CN"/>
              <a:t>TSP</a:t>
            </a:r>
            <a:r>
              <a:rPr lang="zh-CN" altLang="en-US"/>
              <a:t>的变体还广泛应用于调度问题、网络路由、图像处理等领域。</a:t>
            </a:r>
            <a:endParaRPr lang="en-US" altLang="zh-CN"/>
          </a:p>
          <a:p>
            <a:r>
              <a:rPr lang="zh-CN" altLang="en-US"/>
              <a:t>传统蚁群算法在求解</a:t>
            </a:r>
            <a:r>
              <a:rPr lang="en-US" altLang="zh-CN"/>
              <a:t>TSP</a:t>
            </a:r>
            <a:r>
              <a:rPr lang="zh-CN" altLang="en-US"/>
              <a:t>时存在一定局限性：其一，收敛速度相对较慢，通常需要较多迭代次数才能获得较优解；其二，容易陷入局部最优，难以保证解的全局优越性；其三，算法性能对参数设置较为敏感。因此，研究如何改进蚁群算法以提升其求解</a:t>
            </a:r>
            <a:r>
              <a:rPr lang="en-US" altLang="zh-CN"/>
              <a:t>TSP</a:t>
            </a:r>
            <a:r>
              <a:rPr lang="zh-CN" altLang="en-US"/>
              <a:t>问题的性能，具有重要的理论意义和实际应用价值。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蚁群算法最早由意大利学者</a:t>
            </a:r>
            <a:r>
              <a:rPr lang="en-US" altLang="zh-CN"/>
              <a:t>Dorigo</a:t>
            </a:r>
            <a:r>
              <a:rPr lang="zh-CN" altLang="en-US"/>
              <a:t>于1991年提出，思路来源于自然界中蚂蚁找食物的过程。此后，研究者相继提出了精英蚁群系统、最大-最小蚁群系统（</a:t>
            </a:r>
            <a:r>
              <a:rPr lang="en-US" altLang="zh-CN"/>
              <a:t>MMAS）、</a:t>
            </a:r>
            <a:r>
              <a:rPr lang="zh-CN" altLang="en-US"/>
              <a:t>蚁群系统（</a:t>
            </a:r>
            <a:r>
              <a:rPr lang="en-US" altLang="zh-CN"/>
              <a:t>ACS）</a:t>
            </a:r>
            <a:r>
              <a:rPr lang="zh-CN" altLang="en-US"/>
              <a:t>等改进版本。在国内，张纪会等人将蚁群算法应用于车辆路径问题，李士勇等人对蚁群算法的收敛性进行了理论分析。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的求解方法主要分为精确算法和近似算法两大类。精确算法包括动态规划法、分支定界法等，能保证找到最优解，但计算复杂度较高。近似算法又可分为构造性算法（如最近邻、贪心）和改进型算法（如局部搜索、模拟退火、遗传算法）。近年来，研究者开始尝试将多种优化策略结合，以发挥不同算法的优势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  <a:p>
            <a:r>
              <a:rPr lang="zh-CN" altLang="en-US"/>
              <a:t>本文设计并实现了一个基于混合蚁群算法的</a:t>
            </a:r>
            <a:r>
              <a:rPr lang="en-US" altLang="zh-CN"/>
              <a:t>TSP</a:t>
            </a:r>
            <a:r>
              <a:rPr lang="zh-CN" altLang="en-US"/>
              <a:t>求解系统，主要研究内容包括：</a:t>
            </a:r>
            <a:endParaRPr lang="zh-CN" altLang="en-US"/>
          </a:p>
          <a:p>
            <a:r>
              <a:rPr lang="zh-CN" altLang="en-US"/>
              <a:t>（1）研究蚁群算法的基本原理和实现方法，分析其求解</a:t>
            </a:r>
            <a:r>
              <a:rPr lang="en-US" altLang="zh-CN"/>
              <a:t>TSP</a:t>
            </a:r>
            <a:r>
              <a:rPr lang="zh-CN" altLang="en-US"/>
              <a:t>的优点和缺点。</a:t>
            </a:r>
            <a:endParaRPr lang="zh-CN" altLang="en-US"/>
          </a:p>
          <a:p>
            <a:r>
              <a:rPr lang="zh-CN" altLang="en-US"/>
              <a:t>（2）设计自适应参数调整策略，动态调整信息素因子</a:t>
            </a:r>
            <a:r>
              <a:rPr lang="en-US" altLang="zh-CN"/>
              <a:t>α</a:t>
            </a:r>
            <a:r>
              <a:rPr lang="zh-CN" altLang="en-US"/>
              <a:t>和启发函数因子</a:t>
            </a:r>
            <a:r>
              <a:rPr lang="en-US" altLang="zh-CN"/>
              <a:t>β。</a:t>
            </a:r>
            <a:endParaRPr lang="en-US" altLang="zh-CN"/>
          </a:p>
          <a:p>
            <a:r>
              <a:rPr lang="zh-CN" altLang="en-US"/>
              <a:t>（3）将遗传算法的选择、交叉和变异操作引入蚁群算法，增强全局搜索能力。</a:t>
            </a:r>
            <a:endParaRPr lang="zh-CN" altLang="en-US"/>
          </a:p>
          <a:p>
            <a:r>
              <a:rPr lang="zh-CN" altLang="en-US"/>
              <a:t>（4）利用2-</a:t>
            </a:r>
            <a:r>
              <a:rPr lang="en-US" altLang="zh-CN"/>
              <a:t>opt</a:t>
            </a:r>
            <a:r>
              <a:rPr lang="zh-CN" altLang="en-US"/>
              <a:t>局部搜索算法对蚂蚁构建的路径进行进一步优化。</a:t>
            </a:r>
            <a:endParaRPr lang="zh-CN" altLang="en-US"/>
          </a:p>
          <a:p>
            <a:r>
              <a:rPr lang="zh-CN" altLang="en-US"/>
              <a:t>（5）设计混合方案，将上述三种改进策略与传统蚁群算法结合。</a:t>
            </a:r>
            <a:endParaRPr lang="zh-CN" altLang="en-US"/>
          </a:p>
          <a:p>
            <a:r>
              <a:rPr lang="zh-CN" altLang="en-US"/>
              <a:t>（6）基于</a:t>
            </a:r>
            <a:r>
              <a:rPr lang="en-US" altLang="zh-CN"/>
              <a:t>Python</a:t>
            </a:r>
            <a:r>
              <a:rPr lang="zh-CN" altLang="en-US"/>
              <a:t>和</a:t>
            </a:r>
            <a:r>
              <a:rPr lang="en-US" altLang="zh-CN"/>
              <a:t>PyQt5</a:t>
            </a:r>
            <a:r>
              <a:rPr lang="zh-CN" altLang="en-US"/>
              <a:t>实现求解系统，包括算法核心模块、可视化界面和辅助功能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TSP</a:t>
            </a:r>
            <a:r>
              <a:rPr lang="zh-CN" altLang="en-US"/>
              <a:t>问题可以形式化描述为：设有</a:t>
            </a:r>
            <a:r>
              <a:rPr lang="en-US" altLang="zh-CN"/>
              <a:t>n</a:t>
            </a:r>
            <a:r>
              <a:rPr lang="zh-CN" altLang="en-US"/>
              <a:t>个城市组成的集合</a:t>
            </a:r>
            <a:r>
              <a:rPr lang="en-US" altLang="zh-CN"/>
              <a:t>C={c₁,c₂,...,c</a:t>
            </a:r>
            <a:r>
              <a:rPr lang="en-US" altLang="en-US"/>
              <a:t>ₙ}，</a:t>
            </a:r>
            <a:r>
              <a:rPr lang="zh-CN" altLang="en-US"/>
              <a:t>距离矩阵</a:t>
            </a:r>
            <a:r>
              <a:rPr lang="en-US" altLang="zh-CN"/>
              <a:t>D=[d</a:t>
            </a:r>
            <a:r>
              <a:rPr lang="" altLang="en-US"/>
              <a:t>ᵢ</a:t>
            </a:r>
            <a:r>
              <a:rPr lang="en-US" altLang="en-US"/>
              <a:t>ⱼ]ₙₓₙ，</a:t>
            </a:r>
            <a:r>
              <a:rPr lang="zh-CN" altLang="en-US"/>
              <a:t>目标是找到城市排列</a:t>
            </a:r>
            <a:r>
              <a:rPr lang="en-US" altLang="zh-CN"/>
              <a:t>π，</a:t>
            </a:r>
            <a:r>
              <a:rPr lang="zh-CN" altLang="en-US"/>
              <a:t>使总路程最短。数学模型为：</a:t>
            </a:r>
            <a:endParaRPr lang="zh-CN" altLang="en-US"/>
          </a:p>
          <a:p>
            <a:r>
              <a:rPr lang="zh-CN" altLang="en-US"/>
              <a:t>目标函数：</a:t>
            </a:r>
            <a:r>
              <a:rPr lang="en-US" altLang="zh-CN"/>
              <a:t>min L = Σ d(π</a:t>
            </a:r>
            <a:r>
              <a:rPr lang="" altLang="en-US"/>
              <a:t>ᵢ, </a:t>
            </a:r>
            <a:r>
              <a:rPr lang="en-US" altLang="zh-CN"/>
              <a:t>π</a:t>
            </a:r>
            <a:r>
              <a:rPr lang="" altLang="en-US"/>
              <a:t>ᵢ₊₁) + </a:t>
            </a:r>
            <a:r>
              <a:rPr lang="en-US" altLang="zh-CN"/>
              <a:t>d(π</a:t>
            </a:r>
            <a:r>
              <a:rPr lang="en-US" altLang="en-US"/>
              <a:t>ₙ, </a:t>
            </a:r>
            <a:r>
              <a:rPr lang="en-US" altLang="zh-CN"/>
              <a:t>π₁)</a:t>
            </a:r>
            <a:endParaRPr lang="en-US" altLang="zh-CN"/>
          </a:p>
          <a:p>
            <a:r>
              <a:rPr lang="zh-CN" altLang="en-US"/>
              <a:t>约束条件：每个城市恰好经过一次，决策变量</a:t>
            </a:r>
            <a:r>
              <a:rPr lang="en-US" altLang="zh-CN"/>
              <a:t>x</a:t>
            </a:r>
            <a:r>
              <a:rPr lang="" altLang="en-US"/>
              <a:t>ᵢ</a:t>
            </a:r>
            <a:r>
              <a:rPr lang="en-US" altLang="en-US"/>
              <a:t>ⱼ∈{0,1}。</a:t>
            </a:r>
            <a:endParaRPr lang="en-US" altLang="en-US"/>
          </a:p>
          <a:p>
            <a:endParaRPr lang="en-US" altLang="zh-CN"/>
          </a:p>
          <a:p>
            <a:r>
              <a:rPr lang="en-US" altLang="zh-CN"/>
              <a:t>TSP</a:t>
            </a:r>
            <a:r>
              <a:rPr lang="zh-CN" altLang="en-US"/>
              <a:t>问题属于</a:t>
            </a:r>
            <a:r>
              <a:rPr lang="en-US" altLang="zh-CN"/>
              <a:t>NP-hard</a:t>
            </a:r>
            <a:r>
              <a:rPr lang="zh-CN" altLang="en-US"/>
              <a:t>问题类。</a:t>
            </a:r>
            <a:r>
              <a:rPr lang="en-US" altLang="zh-CN"/>
              <a:t>Held-Karp</a:t>
            </a:r>
            <a:r>
              <a:rPr lang="zh-CN" altLang="en-US"/>
              <a:t>算法使用动态规划求解的时间复杂度为</a:t>
            </a:r>
            <a:r>
              <a:rPr lang="en-US" altLang="zh-CN"/>
              <a:t>O(n²·2</a:t>
            </a:r>
            <a:r>
              <a:rPr lang="en-US" altLang="en-US"/>
              <a:t>ⁿ)，</a:t>
            </a:r>
            <a:r>
              <a:rPr lang="zh-CN" altLang="en-US"/>
              <a:t>当</a:t>
            </a:r>
            <a:r>
              <a:rPr lang="en-US" altLang="zh-CN"/>
              <a:t>n=30</a:t>
            </a:r>
            <a:r>
              <a:rPr lang="zh-CN" altLang="en-US"/>
              <a:t>时，时间复杂度约为2.71×10¹¹，计算时间过长。因此，研究高效的元启发式算法具有重要意义。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蚁群算法通过模拟蚂蚁觅食过程中信息素的释放、感知与更新机制，实现对</a:t>
            </a:r>
            <a:r>
              <a:rPr lang="en-US" altLang="zh-CN"/>
              <a:t>TSP</a:t>
            </a:r>
            <a:r>
              <a:rPr lang="zh-CN" altLang="en-US"/>
              <a:t>解空间的迭代搜索。基本流程包括：</a:t>
            </a:r>
            <a:endParaRPr lang="zh-CN" altLang="en-US"/>
          </a:p>
          <a:p>
            <a:r>
              <a:rPr lang="zh-CN" altLang="en-US"/>
              <a:t>（1）初始化：设置参数，初始化信息素矩阵。</a:t>
            </a:r>
            <a:endParaRPr lang="zh-CN" altLang="en-US"/>
          </a:p>
          <a:p>
            <a:r>
              <a:rPr lang="zh-CN" altLang="en-US"/>
              <a:t>（2）路径构建：每只蚂蚁按照状态转移规则选择城市，构建完整路径。</a:t>
            </a:r>
            <a:endParaRPr lang="zh-CN" altLang="en-US"/>
          </a:p>
          <a:p>
            <a:r>
              <a:rPr lang="zh-CN" altLang="en-US"/>
              <a:t>（3）信息素更新：先挥发，再根据路径质量强化。</a:t>
            </a:r>
            <a:endParaRPr lang="zh-CN" altLang="en-US"/>
          </a:p>
          <a:p>
            <a:r>
              <a:rPr lang="zh-CN" altLang="en-US"/>
              <a:t>（4）终止判断：达到最大迭代次数或解收敛。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状态转移规则为：</a:t>
            </a:r>
            <a:r>
              <a:rPr lang="en-US" altLang="zh-CN"/>
              <a:t>P(i→j) = [τ</a:t>
            </a:r>
            <a:r>
              <a:rPr lang="" altLang="en-US"/>
              <a:t>ᵢ</a:t>
            </a:r>
            <a:r>
              <a:rPr lang="en-US" altLang="en-US"/>
              <a:t>ⱼ]^</a:t>
            </a:r>
            <a:r>
              <a:rPr lang="en-US" altLang="zh-CN"/>
              <a:t>α · [η</a:t>
            </a:r>
            <a:r>
              <a:rPr lang="" altLang="en-US"/>
              <a:t>ᵢ</a:t>
            </a:r>
            <a:r>
              <a:rPr lang="en-US" altLang="en-US"/>
              <a:t>ⱼ]^</a:t>
            </a:r>
            <a:r>
              <a:rPr lang="en-US" altLang="zh-CN"/>
              <a:t>β / Σ [τ</a:t>
            </a:r>
            <a:r>
              <a:rPr lang="" altLang="en-US"/>
              <a:t>ᵢ</a:t>
            </a:r>
            <a:r>
              <a:rPr lang="en-US" altLang="en-US"/>
              <a:t>ₛ]^</a:t>
            </a:r>
            <a:r>
              <a:rPr lang="en-US" altLang="zh-CN"/>
              <a:t>α · [η</a:t>
            </a:r>
            <a:r>
              <a:rPr lang="" altLang="en-US"/>
              <a:t>ᵢ</a:t>
            </a:r>
            <a:r>
              <a:rPr lang="en-US" altLang="en-US"/>
              <a:t>ₛ]^</a:t>
            </a:r>
            <a:r>
              <a:rPr lang="en-US" altLang="zh-CN"/>
              <a:t>β，</a:t>
            </a:r>
            <a:r>
              <a:rPr lang="zh-CN" altLang="en-US"/>
              <a:t>其中</a:t>
            </a:r>
            <a:r>
              <a:rPr lang="en-US" altLang="zh-CN"/>
              <a:t>α</a:t>
            </a:r>
            <a:r>
              <a:rPr lang="zh-CN" altLang="en-US"/>
              <a:t>控制信息素因子，</a:t>
            </a:r>
            <a:r>
              <a:rPr lang="en-US" altLang="zh-CN"/>
              <a:t>β</a:t>
            </a:r>
            <a:r>
              <a:rPr lang="zh-CN" altLang="en-US"/>
              <a:t>控制启发函数因子，</a:t>
            </a:r>
            <a:r>
              <a:rPr lang="en-US" altLang="zh-CN"/>
              <a:t>η</a:t>
            </a:r>
            <a:r>
              <a:rPr lang="" altLang="en-US"/>
              <a:t>ᵢ</a:t>
            </a:r>
            <a:r>
              <a:rPr lang="en-US" altLang="en-US"/>
              <a:t>ⱼ=1/</a:t>
            </a:r>
            <a:r>
              <a:rPr lang="en-US" altLang="zh-CN"/>
              <a:t>d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zh-CN" altLang="en-US"/>
              <a:t>为启发函数。信息素更新采用</a:t>
            </a:r>
            <a:r>
              <a:rPr lang="en-US" altLang="zh-CN"/>
              <a:t>Ant-Cycle</a:t>
            </a:r>
            <a:r>
              <a:rPr lang="zh-CN" altLang="en-US"/>
              <a:t>模型，挥发公式为</a:t>
            </a:r>
            <a:r>
              <a:rPr lang="en-US" altLang="zh-CN"/>
              <a:t>τ</a:t>
            </a:r>
            <a:r>
              <a:rPr lang="" altLang="en-US"/>
              <a:t>ᵢ</a:t>
            </a:r>
            <a:r>
              <a:rPr lang="en-US" altLang="en-US"/>
              <a:t>ⱼ(</a:t>
            </a:r>
            <a:r>
              <a:rPr lang="en-US" altLang="zh-CN"/>
              <a:t>t+1)=(1-ρ)·τ</a:t>
            </a:r>
            <a:r>
              <a:rPr lang="" altLang="en-US"/>
              <a:t>ᵢ</a:t>
            </a:r>
            <a:r>
              <a:rPr lang="en-US" altLang="en-US"/>
              <a:t>ⱼ(</a:t>
            </a:r>
            <a:r>
              <a:rPr lang="en-US" altLang="zh-CN"/>
              <a:t>t)，</a:t>
            </a:r>
            <a:r>
              <a:rPr lang="zh-CN" altLang="en-US"/>
              <a:t>强化公式为</a:t>
            </a:r>
            <a:r>
              <a:rPr lang="en-US" altLang="zh-CN"/>
              <a:t>τ</a:t>
            </a:r>
            <a:r>
              <a:rPr lang="" altLang="en-US"/>
              <a:t>ᵢ</a:t>
            </a:r>
            <a:r>
              <a:rPr lang="en-US" altLang="en-US"/>
              <a:t>ⱼ+=</a:t>
            </a:r>
            <a:r>
              <a:rPr lang="en-US" altLang="zh-CN"/>
              <a:t>ΣΔτ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" altLang="en-US"/>
              <a:t>ᵏ，</a:t>
            </a:r>
            <a:r>
              <a:rPr lang="zh-CN" altLang="en-US"/>
              <a:t>其中</a:t>
            </a:r>
            <a:r>
              <a:rPr lang="en-US" altLang="zh-CN"/>
              <a:t>Δτ</a:t>
            </a:r>
            <a:r>
              <a:rPr lang="" altLang="en-US"/>
              <a:t>ᵢ</a:t>
            </a:r>
            <a:r>
              <a:rPr lang="en-US" altLang="en-US"/>
              <a:t>ⱼ</a:t>
            </a:r>
            <a:r>
              <a:rPr lang="" altLang="en-US"/>
              <a:t>ᵏ=</a:t>
            </a:r>
            <a:r>
              <a:rPr lang="en-US" altLang="zh-CN"/>
              <a:t>Q/L</a:t>
            </a:r>
            <a:r>
              <a:rPr lang="en-US" altLang="en-US"/>
              <a:t>ₖ。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1. 自适应参数调整：</a:t>
            </a:r>
            <a:r>
              <a:rPr lang="en-US" altLang="zh-CN"/>
              <a:t>α</a:t>
            </a:r>
            <a:r>
              <a:rPr lang="zh-CN" altLang="en-US"/>
              <a:t>从0.5线性增长到2.5，</a:t>
            </a:r>
            <a:r>
              <a:rPr lang="en-US" altLang="zh-CN"/>
              <a:t>β</a:t>
            </a:r>
            <a:r>
              <a:rPr lang="zh-CN" altLang="en-US"/>
              <a:t>从4.0线性减小到1.0。搜索初期采用小</a:t>
            </a:r>
            <a:r>
              <a:rPr lang="en-US" altLang="zh-CN"/>
              <a:t>α</a:t>
            </a:r>
            <a:r>
              <a:rPr lang="zh-CN" altLang="en-US"/>
              <a:t>大</a:t>
            </a:r>
            <a:r>
              <a:rPr lang="en-US" altLang="zh-CN"/>
              <a:t>β，</a:t>
            </a:r>
            <a:r>
              <a:rPr lang="zh-CN" altLang="en-US"/>
              <a:t>重探索；后期采用大</a:t>
            </a:r>
            <a:r>
              <a:rPr lang="en-US" altLang="zh-CN"/>
              <a:t>α</a:t>
            </a:r>
            <a:r>
              <a:rPr lang="zh-CN" altLang="en-US"/>
              <a:t>小</a:t>
            </a:r>
            <a:r>
              <a:rPr lang="en-US" altLang="zh-CN"/>
              <a:t>β，</a:t>
            </a:r>
            <a:r>
              <a:rPr lang="zh-CN" altLang="en-US"/>
              <a:t>重利用。这解决了传统算法参数敏感性问题。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遗传算法增强：采用锦标赛选择优质路径，顺序交叉（</a:t>
            </a:r>
            <a:r>
              <a:rPr lang="en-US" altLang="zh-CN"/>
              <a:t>OX）</a:t>
            </a:r>
            <a:r>
              <a:rPr lang="zh-CN" altLang="en-US"/>
              <a:t>生成子代，交换+逆转变异维持多样性，前10%精英释放2倍信息素。这增强了全局搜索能力。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2-opt</a:t>
            </a:r>
            <a:r>
              <a:rPr lang="zh-CN" altLang="en-US"/>
              <a:t>局部搜索：选择精英蚂蚁路径，反转路径片段消除交叉，</a:t>
            </a:r>
            <a:r>
              <a:rPr lang="en-US" altLang="zh-CN"/>
              <a:t>ΔL&lt;0</a:t>
            </a:r>
            <a:r>
              <a:rPr lang="zh-CN" altLang="en-US"/>
              <a:t>则执行反转，时间复杂度</a:t>
            </a:r>
            <a:r>
              <a:rPr lang="en-US" altLang="zh-CN"/>
              <a:t>O(n²)。</a:t>
            </a:r>
            <a:r>
              <a:rPr lang="zh-CN" altLang="en-US"/>
              <a:t>这显著提升了解的质量。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融合思路是以蚁群算法为主框架，每轮迭代后依次执行遗传增强和2-</a:t>
            </a:r>
            <a:r>
              <a:rPr lang="en-US" altLang="zh-CN"/>
              <a:t>opt</a:t>
            </a:r>
            <a:r>
              <a:rPr lang="zh-CN" altLang="en-US"/>
              <a:t>优化，自适应调整</a:t>
            </a:r>
            <a:r>
              <a:rPr lang="en-US" altLang="zh-CN"/>
              <a:t>α/β</a:t>
            </a:r>
            <a:r>
              <a:rPr lang="zh-CN" altLang="en-US"/>
              <a:t>参数。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流程为：初始化（参数/城市/信息素矩阵）→蚂蚁构路（状态转移规则选择）→遗传增强（选择/交叉/变异操作）→2-</a:t>
            </a:r>
            <a:r>
              <a:rPr lang="en-US" altLang="zh-CN"/>
              <a:t>opt</a:t>
            </a:r>
            <a:r>
              <a:rPr lang="zh-CN" altLang="en-US"/>
              <a:t>优化（反转片段消除交叉）→信息素更新（挥发+精英强化）→参数调整（</a:t>
            </a:r>
            <a:r>
              <a:rPr lang="en-US" altLang="zh-CN"/>
              <a:t>α/β</a:t>
            </a:r>
            <a:r>
              <a:rPr lang="zh-CN" altLang="en-US"/>
              <a:t>动态更新），步骤2-6循环执行，直至达到最大迭代次数或解收敛（连续迭代差值&lt;0.01）。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系统采用三层架构：</a:t>
            </a:r>
            <a:endParaRPr lang="zh-CN" altLang="en-US"/>
          </a:p>
          <a:p>
            <a:r>
              <a:rPr lang="zh-CN" altLang="en-US"/>
              <a:t>（1）用户界面层（</a:t>
            </a:r>
            <a:r>
              <a:rPr lang="en-US" altLang="zh-CN"/>
              <a:t>HybridACOGUI）：</a:t>
            </a:r>
            <a:r>
              <a:rPr lang="zh-CN" altLang="en-US"/>
              <a:t>参数设置面板、算法运行控制、结果展示区域、路径图/收敛曲线、数据导出。</a:t>
            </a:r>
            <a:endParaRPr lang="zh-CN" altLang="en-US"/>
          </a:p>
          <a:p>
            <a:r>
              <a:rPr lang="zh-CN" altLang="en-US"/>
              <a:t>（2）算法核心层（</a:t>
            </a:r>
            <a:r>
              <a:rPr lang="en-US" altLang="zh-CN"/>
              <a:t>HybridACOGA）：</a:t>
            </a:r>
            <a:r>
              <a:rPr lang="zh-CN" altLang="en-US"/>
              <a:t>蚁群优化器、遗传增强器、2-</a:t>
            </a:r>
            <a:r>
              <a:rPr lang="en-US" altLang="zh-CN"/>
              <a:t>opt</a:t>
            </a:r>
            <a:r>
              <a:rPr lang="zh-CN" altLang="en-US"/>
              <a:t>优化器、自适应参数调整器。</a:t>
            </a:r>
            <a:endParaRPr lang="zh-CN" altLang="en-US"/>
          </a:p>
          <a:p>
            <a:r>
              <a:rPr lang="zh-CN" altLang="en-US"/>
              <a:t>（3）基础服务层（</a:t>
            </a:r>
            <a:r>
              <a:rPr lang="en-US" altLang="zh-CN"/>
              <a:t>Services）：</a:t>
            </a:r>
            <a:r>
              <a:rPr lang="zh-CN" altLang="en-US"/>
              <a:t>城市生成器、距离计算器、信息素管理器、结果导出器。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设计特点为模块化设计、参数可调、实时可视化。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1）城市生成器：使用</a:t>
            </a:r>
            <a:r>
              <a:rPr lang="en-US" altLang="zh-CN"/>
              <a:t>NumPy</a:t>
            </a:r>
            <a:r>
              <a:rPr lang="zh-CN" altLang="en-US"/>
              <a:t>的</a:t>
            </a:r>
            <a:r>
              <a:rPr lang="en-US" altLang="zh-CN"/>
              <a:t>uniform</a:t>
            </a:r>
            <a:r>
              <a:rPr lang="zh-CN" altLang="en-US"/>
              <a:t>函数生成均匀分布的随机坐标。</a:t>
            </a:r>
            <a:endParaRPr lang="zh-CN" altLang="en-US"/>
          </a:p>
          <a:p>
            <a:r>
              <a:rPr lang="zh-CN" altLang="en-US"/>
              <a:t>（2）距离计算器：预计算欧几里得距离矩阵，对称矩阵减少计算量。</a:t>
            </a:r>
            <a:endParaRPr lang="zh-CN" altLang="en-US"/>
          </a:p>
          <a:p>
            <a:r>
              <a:rPr lang="zh-CN" altLang="en-US"/>
              <a:t>（3）信息素管理器：实现信息素挥发+沉积+精英强化，批量更新提高效率。</a:t>
            </a:r>
            <a:endParaRPr lang="zh-CN" altLang="en-US"/>
          </a:p>
          <a:p>
            <a:r>
              <a:rPr lang="zh-CN" altLang="en-US"/>
              <a:t>（4）蚂蚁类：采用轮盘赌选择策略，构建完整闭合回路。</a:t>
            </a:r>
            <a:endParaRPr lang="zh-CN" altLang="en-US"/>
          </a:p>
          <a:p>
            <a:r>
              <a:rPr lang="zh-CN" altLang="en-US"/>
              <a:t>（5）蚁群优化器：协调各组件完成求解，记录收敛数据。</a:t>
            </a:r>
            <a:endParaRPr lang="zh-CN" altLang="en-US"/>
          </a:p>
          <a:p>
            <a:r>
              <a:rPr lang="zh-CN" altLang="en-US"/>
              <a:t>（6）遗传增强器：锦标赛选择+</a:t>
            </a:r>
            <a:r>
              <a:rPr lang="en-US" altLang="zh-CN"/>
              <a:t>OX</a:t>
            </a:r>
            <a:r>
              <a:rPr lang="zh-CN" altLang="en-US"/>
              <a:t>交叉，组合变异策略。</a:t>
            </a:r>
            <a:endParaRPr lang="zh-CN" altLang="en-US"/>
          </a:p>
          <a:p>
            <a:r>
              <a:rPr lang="en-US" altLang="zh-CN"/>
              <a:t>（7）2-opt</a:t>
            </a:r>
            <a:r>
              <a:rPr lang="zh-CN" altLang="en-US"/>
              <a:t>优化器：双层循环遍历边对，反转操作消除交叉。</a:t>
            </a:r>
            <a:endParaRPr lang="zh-CN" altLang="en-US"/>
          </a:p>
          <a:p>
            <a:r>
              <a:rPr lang="zh-CN" altLang="en-US"/>
              <a:t>（8）自适应调整器：线性插值调整</a:t>
            </a:r>
            <a:r>
              <a:rPr lang="en-US" altLang="zh-CN"/>
              <a:t>α/β，</a:t>
            </a:r>
            <a:r>
              <a:rPr lang="zh-CN" altLang="en-US"/>
              <a:t>前期探索后期利用。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技术栈为</a:t>
            </a:r>
            <a:r>
              <a:rPr lang="en-US" altLang="zh-CN"/>
              <a:t>Python 3.12、NumPy、PyQt5</a:t>
            </a:r>
            <a:r>
              <a:rPr lang="zh-CN" altLang="en-US"/>
              <a:t>和</a:t>
            </a:r>
            <a:r>
              <a:rPr lang="en-US" altLang="zh-CN"/>
              <a:t>PyQtGraph。</a:t>
            </a:r>
            <a:r>
              <a:rPr lang="zh-CN" altLang="en-US"/>
              <a:t>功能包括：</a:t>
            </a:r>
            <a:endParaRPr lang="zh-CN" altLang="en-US"/>
          </a:p>
          <a:p>
            <a:r>
              <a:rPr lang="zh-CN" altLang="en-US"/>
              <a:t>（1）参数配置：城市数量（10-200）、蚂蚁数量、</a:t>
            </a:r>
            <a:r>
              <a:rPr lang="en-US" altLang="zh-CN"/>
              <a:t>α/β/ρ/Q</a:t>
            </a:r>
            <a:r>
              <a:rPr lang="zh-CN" altLang="en-US"/>
              <a:t>参数、最大迭代次数、</a:t>
            </a:r>
            <a:r>
              <a:rPr lang="en-US" altLang="zh-CN"/>
              <a:t>GA</a:t>
            </a:r>
            <a:r>
              <a:rPr lang="zh-CN" altLang="en-US"/>
              <a:t>参数。</a:t>
            </a:r>
            <a:endParaRPr lang="zh-CN" altLang="en-US"/>
          </a:p>
          <a:p>
            <a:r>
              <a:rPr lang="zh-CN" altLang="en-US"/>
              <a:t>（2）算法运行：一键运行混合算法，实时更新进度，支持单策略/组合策略。</a:t>
            </a:r>
            <a:endParaRPr lang="zh-CN" altLang="en-US"/>
          </a:p>
          <a:p>
            <a:r>
              <a:rPr lang="zh-CN" altLang="en-US"/>
              <a:t>（3）可视化展示：最优路径实时绘制、收敛曲线动态更新、参数变化历史图。</a:t>
            </a:r>
            <a:endParaRPr lang="zh-CN" altLang="en-US"/>
          </a:p>
          <a:p>
            <a:r>
              <a:rPr lang="zh-CN" altLang="en-US"/>
              <a:t>（4）数据导出：</a:t>
            </a:r>
            <a:r>
              <a:rPr lang="en-US" altLang="zh-CN"/>
              <a:t>JSON</a:t>
            </a:r>
            <a:r>
              <a:rPr lang="zh-CN" altLang="en-US"/>
              <a:t>格式（完整数据）、</a:t>
            </a:r>
            <a:r>
              <a:rPr lang="en-US" altLang="zh-CN"/>
              <a:t>TXT</a:t>
            </a:r>
            <a:r>
              <a:rPr lang="zh-CN" altLang="en-US"/>
              <a:t>格式（摘要报告）、</a:t>
            </a:r>
            <a:r>
              <a:rPr lang="en-US" altLang="zh-CN"/>
              <a:t>CSV</a:t>
            </a:r>
            <a:r>
              <a:rPr lang="zh-CN" altLang="en-US"/>
              <a:t>格式（收敛数据）。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实验环境：</a:t>
            </a:r>
            <a:r>
              <a:rPr lang="en-US" altLang="zh-CN"/>
              <a:t>Windows 11 Home，Intel Core i5，16GB RAM，Python 3.12。</a:t>
            </a:r>
            <a:r>
              <a:rPr lang="zh-CN" altLang="en-US"/>
              <a:t>统一参数配置：城市数量100，蚂蚁数量50，</a:t>
            </a:r>
            <a:r>
              <a:rPr lang="en-US" altLang="zh-CN"/>
              <a:t>α=1.0，β=2.0，ρ=0.5，Q=100，</a:t>
            </a:r>
            <a:r>
              <a:rPr lang="zh-CN" altLang="en-US"/>
              <a:t>最大迭代次数100，交叉率0.85，变异率0.15。每种组合独立运行10次取平均。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6项评价指标：最优距离、运行时间、收敛次数、首次迭代距离、最后下降迭代、变异系数（</a:t>
            </a:r>
            <a:r>
              <a:rPr lang="en-US" altLang="zh-CN"/>
              <a:t>CV）。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8种算法组合：①基本</a:t>
            </a:r>
            <a:r>
              <a:rPr lang="en-US" altLang="zh-CN"/>
              <a:t>ACO（</a:t>
            </a:r>
            <a:r>
              <a:rPr lang="zh-CN" altLang="en-US"/>
              <a:t>基准对照组）、②自适应参数</a:t>
            </a:r>
            <a:r>
              <a:rPr lang="en-US" altLang="zh-CN"/>
              <a:t>ACO、③</a:t>
            </a:r>
            <a:r>
              <a:rPr lang="zh-CN" altLang="en-US"/>
              <a:t>遗传算法</a:t>
            </a:r>
            <a:r>
              <a:rPr lang="en-US" altLang="zh-CN"/>
              <a:t>ACO、④2-opt ACO、⑤</a:t>
            </a:r>
            <a:r>
              <a:rPr lang="zh-CN" altLang="en-US"/>
              <a:t>自适应+遗传、⑥自适应+2-</a:t>
            </a:r>
            <a:r>
              <a:rPr lang="en-US" altLang="zh-CN"/>
              <a:t>opt、⑦</a:t>
            </a:r>
            <a:r>
              <a:rPr lang="zh-CN" altLang="en-US"/>
              <a:t>遗传+2-</a:t>
            </a:r>
            <a:r>
              <a:rPr lang="en-US" altLang="zh-CN"/>
              <a:t>opt、⑧</a:t>
            </a:r>
            <a:r>
              <a:rPr lang="zh-CN" altLang="en-US"/>
              <a:t>全融合（三者全融合）。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</a:t>
            </a:r>
            <a:r>
              <a:rPr lang="en-US" altLang="zh-CN"/>
              <a:t>ACO</a:t>
            </a:r>
            <a:r>
              <a:rPr lang="zh-CN" altLang="en-US"/>
              <a:t>作为基准对照组，平均最优距离为865.61，平均收敛次数为8.3次。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自适应参数</a:t>
            </a:r>
            <a:r>
              <a:rPr lang="en-US" altLang="zh-CN"/>
              <a:t>ACO：</a:t>
            </a:r>
            <a:r>
              <a:rPr lang="zh-CN" altLang="en-US"/>
              <a:t>平均最优距离851.33，较传统</a:t>
            </a:r>
            <a:r>
              <a:rPr lang="en-US" altLang="zh-CN"/>
              <a:t>ACO</a:t>
            </a:r>
            <a:r>
              <a:rPr lang="zh-CN" altLang="en-US"/>
              <a:t>降低1.65%；收敛次数从8.3降至5.7次；首次迭代距离从1828.54降至1309.70。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遗传算法</a:t>
            </a:r>
            <a:r>
              <a:rPr lang="en-US" altLang="zh-CN"/>
              <a:t>ACO：</a:t>
            </a:r>
            <a:r>
              <a:rPr lang="zh-CN" altLang="en-US"/>
              <a:t>平均最优距离831.42，较传统</a:t>
            </a:r>
            <a:r>
              <a:rPr lang="en-US" altLang="zh-CN"/>
              <a:t>ACO</a:t>
            </a:r>
            <a:r>
              <a:rPr lang="zh-CN" altLang="en-US"/>
              <a:t>降低3.95%；收缩距离从962.93增加至1002.13，说明遗传算法有助于扩大搜索范围。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2-opt ACO：</a:t>
            </a:r>
            <a:r>
              <a:rPr lang="zh-CN" altLang="en-US"/>
              <a:t>平均最优距离798.22，较传统</a:t>
            </a:r>
            <a:r>
              <a:rPr lang="en-US" altLang="zh-CN"/>
              <a:t>ACO</a:t>
            </a:r>
            <a:r>
              <a:rPr lang="zh-CN" altLang="en-US"/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全融合算法：平均最优距离797.45，较传统</a:t>
            </a:r>
            <a:r>
              <a:rPr lang="en-US" altLang="zh-CN"/>
              <a:t>ACO</a:t>
            </a:r>
            <a:r>
              <a:rPr lang="zh-CN" altLang="en-US"/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2-opt ACO：</a:t>
            </a:r>
            <a:r>
              <a:rPr lang="zh-CN" altLang="en-US">
                <a:sym typeface="+mn-ea"/>
              </a:rPr>
              <a:t>平均最优距离798.22，较传统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降低7.79%，是所有单一改进策略中效果最显著的一种。收敛次数从8.3降至2.0次，提升了75.9%。首次迭代距离从1828.54降至840.97。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全融合算法：平均最优距离797.45，较传统</a:t>
            </a:r>
            <a:r>
              <a:rPr lang="en-US" altLang="zh-CN">
                <a:sym typeface="+mn-ea"/>
              </a:rPr>
              <a:t>ACO</a:t>
            </a:r>
            <a:r>
              <a:rPr lang="zh-CN" altLang="en-US">
                <a:sym typeface="+mn-ea"/>
              </a:rPr>
              <a:t>降低7.88%；平均运行时间39.71秒；收敛次数2.1次。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结论一：2-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是最关键改进策略。单独使用即降低最优距离7.79%，收敛次数从8.3降至2.0，含2-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方案</a:t>
            </a:r>
            <a:r>
              <a:rPr lang="en-US" altLang="zh-CN">
                <a:sym typeface="+mn-ea"/>
              </a:rPr>
              <a:t>CV&lt;0.5%。2-opt</a:t>
            </a:r>
            <a:r>
              <a:rPr lang="zh-CN" altLang="en-US">
                <a:sym typeface="+mn-ea"/>
              </a:rPr>
              <a:t>通过系统性反转路径片段消除交叉，能够在较短时间内显著提升路径质量。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结论二：遗传+2-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为最优组合。平均最优距离795.23，改进幅度8.13%，在10次运行中有5次达到792.48，已接近该问题的已知最优解。该组合形成了"全局探索+局部强化"的协同机制。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结论三：自适应参数贡献有限但有价值。独立改进1.65%，收敛次数从8.3降至5.7，前期探索后期利用策略合理。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结论四：策略叠加不等于性能提升。全融合(797.45)略逊于遗传+2-</a:t>
            </a:r>
            <a:r>
              <a:rPr lang="en-US" altLang="zh-CN">
                <a:sym typeface="+mn-ea"/>
              </a:rPr>
              <a:t>opt(795.23)。</a:t>
            </a:r>
            <a:r>
              <a:rPr lang="zh-CN" altLang="en-US">
                <a:sym typeface="+mn-ea"/>
              </a:rPr>
              <a:t>自适应可能干扰遗传进化，参数动态变化与2-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的确定性存在耦合冲突。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结论五：2-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是消除回环现象的关键因素。所有包含2-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的组合都没有出现回环现象，而不含2-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的组合则表现出不同程度的局部震荡。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创新点一：多策略融合的混合蚁群算法。将自适应参数调整、遗传算法和2-</a:t>
            </a:r>
            <a:r>
              <a:rPr lang="en-US" altLang="zh-CN"/>
              <a:t>opt</a:t>
            </a:r>
            <a:r>
              <a:rPr lang="zh-CN" altLang="en-US"/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创新点二：自适应参数调整策略。设计</a:t>
            </a:r>
            <a:r>
              <a:rPr lang="en-US" altLang="zh-CN"/>
              <a:t>α/β</a:t>
            </a:r>
            <a:r>
              <a:rPr lang="zh-CN" altLang="en-US"/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创新点四：功能完善的可视化求解系统。基于</a:t>
            </a:r>
            <a:r>
              <a:rPr lang="en-US" altLang="zh-CN"/>
              <a:t>PyQt5</a:t>
            </a:r>
            <a:r>
              <a:rPr lang="zh-CN" altLang="en-US"/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>
                <a:sym typeface="+mn-ea"/>
              </a:rPr>
              <a:t>创新点一：多策略融合的混合蚁群算法。将自适应参数调整、遗传算法和2-</a:t>
            </a:r>
            <a:r>
              <a:rPr lang="en-US" altLang="zh-CN">
                <a:sym typeface="+mn-ea"/>
              </a:rPr>
              <a:t>opt</a:t>
            </a:r>
            <a:r>
              <a:rPr lang="zh-CN" altLang="en-US">
                <a:sym typeface="+mn-ea"/>
              </a:rPr>
              <a:t>局部搜索三种策略有机融合，兼顾广度探索与深度优化的平衡。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创新点二：自适应参数调整策略。设计</a:t>
            </a:r>
            <a:r>
              <a:rPr lang="en-US" altLang="zh-CN">
                <a:sym typeface="+mn-ea"/>
              </a:rPr>
              <a:t>α/β</a:t>
            </a:r>
            <a:r>
              <a:rPr lang="zh-CN" altLang="en-US">
                <a:sym typeface="+mn-ea"/>
              </a:rPr>
              <a:t>随迭代进度动态变化的调整机制，前期重探索、后期重利用，有效解决参数敏感性问题。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创新点三：遗传算法与蚁群算法协同优化。将遗传操作引入蚁群算法，通过选择/交叉/变异维持种群多样性，增强跳出局部最优的能力。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创新点四：功能完善的可视化求解系统。基于</a:t>
            </a:r>
            <a:r>
              <a:rPr lang="en-US" altLang="zh-CN">
                <a:sym typeface="+mn-ea"/>
              </a:rPr>
              <a:t>PyQt5</a:t>
            </a:r>
            <a:r>
              <a:rPr lang="zh-CN" altLang="en-US">
                <a:sym typeface="+mn-ea"/>
              </a:rPr>
              <a:t>开发图形界面，实现参数配置、算法运行、实时可视化和多格式数据导出。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现有不足：大规模</a:t>
            </a:r>
            <a:r>
              <a:rPr lang="en-US" altLang="zh-CN">
                <a:sym typeface="+mn-ea"/>
              </a:rPr>
              <a:t>TSP（&gt;1000</a:t>
            </a:r>
            <a:r>
              <a:rPr lang="zh-CN" altLang="en-US">
                <a:sym typeface="+mn-ea"/>
              </a:rPr>
              <a:t>城市）运行时间仍较高；参数自适应机制仍有优化空间；暂不支持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标准实例库导入；可视化界面功能相对基础；统计分析能力较弱；混合算法收敛性理论分析不够深入。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未来工作：研究3-</a:t>
            </a:r>
            <a:r>
              <a:rPr lang="en-US" altLang="zh-CN">
                <a:sym typeface="+mn-ea"/>
              </a:rPr>
              <a:t>opt、Lin-Kernighan</a:t>
            </a:r>
            <a:r>
              <a:rPr lang="zh-CN" altLang="en-US">
                <a:sym typeface="+mn-ea"/>
              </a:rPr>
              <a:t>等更高效局部搜索；引入多核并行计算加速算法执行；基于强化学习的参数优化机制；支持</a:t>
            </a:r>
            <a:r>
              <a:rPr lang="en-US" altLang="zh-CN">
                <a:sym typeface="+mn-ea"/>
              </a:rPr>
              <a:t>TSPLIB</a:t>
            </a:r>
            <a:r>
              <a:rPr lang="zh-CN" altLang="en-US">
                <a:sym typeface="+mn-ea"/>
              </a:rPr>
              <a:t>标准实例库导入；推广到车辆路径、作业调度等场景；深入分析混合算法的收敛性。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本系统为</a:t>
            </a:r>
            <a:r>
              <a:rPr lang="en-US" altLang="zh-CN"/>
              <a:t>TSP</a:t>
            </a:r>
            <a:r>
              <a:rPr lang="zh-CN" altLang="en-US"/>
              <a:t>求解提供了一种有效的混合优化方案。实验验证了"全局探索+局部强化"协同机制的有效性。混合蚁群算法在解的质量、收敛速度和运行稳定性方面均优于传统蚁群算法，最优路径长度降低了7.88%，收敛速度提高了74.7%，具有较好的理论意义和应用价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感谢聆听，敬请各位老师批评指正！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基于求解旅行商问题的</a:t>
            </a:r>
            <a:br/>
            <a:r>
              <a:t>蚁群算法的设计与实现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743200"/>
            <a:ext cx="338328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4515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指导教师：</a:t>
            </a:r>
            <a:r>
              <a:rPr lang="zh-CN"/>
              <a:t>夏传</a:t>
            </a:r>
            <a:r>
              <a:rPr lang="zh-CN"/>
              <a:t>良</a:t>
            </a:r>
            <a:endParaRPr lang="zh-CN"/>
          </a:p>
        </p:txBody>
      </p:sp>
      <p:sp>
        <p:nvSpPr>
          <p:cNvPr id="9" name="TextBox 8"/>
          <p:cNvSpPr txBox="1"/>
          <p:nvPr/>
        </p:nvSpPr>
        <p:spPr>
          <a:xfrm>
            <a:off x="1097280" y="50840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专业：数据科学与大数据技术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22975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日期：2026年6月</a:t>
            </a:r>
            <a:r>
              <a:rPr lang="en-US"/>
              <a:t>10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一、研究背景与意义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2/18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旅行商问题 (TSP)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组合优化领域经典的NP-hard问题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给定n个城市，寻找经过每个城市恰好一次的最短回路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n=100时，穷举路径数接近 (99)!/2，无法精确求解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应用：物流配送、电路板钻孔、DNA测序、网络路由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传统蚁群算法不足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收敛速度较慢，需大量迭代才能找到较优解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易陷入局部最优，无法保证全局最优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 α、β、ρ 设置敏感，性能波动大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单一策略难以同时兼顾探索与利用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0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研究动机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提出融合自适应参数调整、遗传算法、2-opt局部搜索三种策略的混合蚁群算法，</a:t>
            </a:r>
            <a:br/>
            <a:r>
              <a:t>在保持蚁群算法优势的同时，提升收敛速度、求解质量和运行稳定性。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二、国内外研究现状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蚁群算法发展历程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1991年 Dorigo提出蚁群算法（Ant System）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1996年 Dorigo等发表奠基性论文（IEEE T-SMC-B）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1997年 Dorigo提出蚁群系统（ACS）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2000年 Stützle提出MAX-MIN蚁群系统（MMAS）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国内：张纪会等应用于车辆路径问题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李士勇等对蚁群算法收敛性进行理论分析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趋势：群智能算法混合化、并行化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TSP求解方法分类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精确算法：动态规划 O(n²·2ⁿ)、分支定界法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仅适用小规模问题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近似算法：最近邻、贪心等构造性算法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   → 解的质量不稳定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元启发式：遗传算法、模拟退火、禁忌搜索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群智能：蚁群算法、粒子群优化（PSO）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趋势：多种策略混合，发挥各自优势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三、研究目标与论文内容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4/18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总目标：设计并实现一套基于混合蚁群算法的TSP求解系统，在传统ACO基础上融合三种改进策略，</a:t>
            </a:r>
            <a:br/>
            <a:r>
              <a:t>提升求解性能，并通过实验验证混合算法的有效性。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融合自适应参数调整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融合遗传算法增强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融合2-opt局部搜索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56032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Python + PyQt5开发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模块化三层架构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可视化界面+数据导出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5603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56032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587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0632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8种算法组合对比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6项评价指标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10次独立运行取平均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论文章节安排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第一章 绪论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第二章 理论基础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第三章 系统设计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第四章 系统实现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9" y="5623560"/>
            <a:ext cx="1691640" cy="50292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第五章 实验分析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5623560"/>
            <a:ext cx="1691640" cy="502920"/>
          </a:xfrm>
          <a:prstGeom prst="rect">
            <a:avLst/>
          </a:prstGeom>
          <a:solidFill>
            <a:srgbClr val="4A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56509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第六章 总结展望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四、TSP问题定义与数学模型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城市集合 C = {c₁, c₂, ..., cₙ}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距离矩阵 D = [dᵢⱼ]ₙₓₙ（欧几里得距离）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目标：找到城市排列π，使总路程最短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对称TSP：dᵢⱼ = dⱼᵢ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数学模型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目标函数：min L = Σ d(πᵢ, πᵢ₊₁) + d(πₙ, π₁)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约束：每个城市恰好经过一次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决策变量 xᵢⱼ ∈ {0, 1}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属于NP-hard问题类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09728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计算复杂度分析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931920"/>
          <a:ext cx="8778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求解方法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时间复杂度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n=20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n=50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n=100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穷举搜索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(n-1)!/2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1.8×10⁵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6.1×10¹⁶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3.0×10⁶²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动态规划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O(n²·2ⁿ)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1.0×10⁴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4.2×10⁷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蚁群算法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O(T·m·n²)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可行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→ 正因TSP的NP-hard特性，研究高效的元启发式算法（如蚁群算法）具有重要意义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五、传统蚁群算法原理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算法基本流程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初始化：设置参数，初始化信息素矩阵 τ₀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路径构建：每只蚂蚁根据状态转移规则遍历城市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信息素更新：先挥发，再根据路径质量强化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终止判断：达到最大迭代次数或解收敛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核心特点：正反馈机制 + 并行搜索 + 鲁棒性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状态转移规则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P(i→j) = [τᵢⱼ]^α · [ηᵢⱼ]^β  /  Σ [τᵢₛ]^α · [ηᵢₛ]^β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 — 信息素因子：越大越依赖历史信息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 — 启发函数因子：越大越偏向贪心选择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ηᵢⱼ = 1/dᵢⱼ — 启发函数（距离倒数）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信息素更新机制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挥发：τᵢⱼ(t+1) = (1-ρ) · τᵢⱼ(t)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强化：τᵢⱼ += Σ Δτᵢⱼᵏ （Ant-Cycle模型）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Δτᵢⱼᵏ = Q / Lₖ（路径越短，信息素越多）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ρ — 挥发系数：控制探索/利用平衡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六、三种改进策略设计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自适应参数调整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α: 0.5 → 2.5 线性增长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β: 4.0 → 1.0 线性减小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前期：小α大β → 重探索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后期：大α小β → 重利用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解决参数敏感性问题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4747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遗传算法增强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锦标赛选择优质路径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顺序交叉 (OX) 生成子代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交换+逆转变异维持多样性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前10%精英释放2倍信息素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增强全局搜索能力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28016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280160"/>
            <a:ext cx="34747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307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2-opt局部搜索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7830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选择精英蚂蚁路径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ΔL &lt; 0 则执行反转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时间复杂度 O(n²)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融合思路：蚁群算法为主框架 → 每轮迭代后依次执行遗传增强和2-opt优化 → 自适应调整α/β参数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七、混合蚁群算法整体流程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8/18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4630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初始化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参数/城市/</a:t>
            </a:r>
            <a:br/>
            <a:r>
              <a:t>信息素矩阵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1463040" cy="13716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蚂蚁构路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状态转移</a:t>
            </a:r>
            <a:br/>
            <a:r>
              <a:t>规则选择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1463040" cy="13716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选择/交叉</a:t>
            </a:r>
            <a:br/>
            <a:r>
              <a:t>变异操作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1463040" cy="13716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反转片段</a:t>
            </a:r>
            <a:br/>
            <a:r>
              <a:t>消除交叉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1463040" cy="13716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</a:t>
            </a:r>
            <a:br/>
            <a:r>
              <a:t>更新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挥发+精英</a:t>
            </a:r>
            <a:br/>
            <a:r>
              <a:t>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286000"/>
            <a:ext cx="146304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参数调整</a:t>
            </a:r>
          </a:p>
          <a:p>
            <a:pPr algn="ctr">
              <a:defRPr sz="100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α/β动态</a:t>
            </a:r>
            <a:br/>
            <a:r>
              <a:t>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↺ 步骤2-6循环执行，直至达到最大迭代次数或解收敛（连续迭代差值 &lt; 0.01）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在蚂蚁构路完成后执行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对种群路径进行选择/交叉/变异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维持种群多样性，增强全局搜索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30352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73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仅对精英蚂蚁路径执行局部优化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反转路径片段消除交叉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显著提升解的质量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八、系统总体架构设计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9/18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用户界面层  —  HybridACOGUI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参数设置面板  |  算法运行控制  |  结果展示区域  |  路径图 / 收敛曲线  |  数据导出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69848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算法核心层  —  HybridACOGA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蚁群优化器  |  遗传增强器  |  2-opt优化器  |  自适应参数调整器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基础服务层  — 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0"/>
                </a:solidFill>
                <a:latin typeface="微软雅黑" panose="020B0503020204020204" charset="-122"/>
              </a:defRPr>
            </a:pPr>
            <a:r>
              <a:t>城市生成器  |  距离计算器  |  信息素管理器  |  结果导出器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698480" cy="14058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设计特点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模块化设计：各组件独立封装，便于维护与扩展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参数可调：支持灵活启用/禁用不同优化策略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▸  可视化：实时展示路径图和收敛曲线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九、核心模块实现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10/18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城市生成器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CityGenerator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随机生成城市坐标</a:t>
            </a:r>
            <a:br/>
            <a:r>
              <a:t>NumPy uniform分布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距离计算器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DistanceCalculator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预计算欧几里得距离矩阵</a:t>
            </a:r>
            <a:br/>
            <a:r>
              <a:t>对称矩阵减少计算量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信息素管理器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PheromoneManager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信息素挥发+沉积+精英强化</a:t>
            </a:r>
            <a:br/>
            <a:r>
              <a:t>批量更新提高效率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8016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697480" cy="36576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307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蚂蚁类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488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轮盘赌选择策略</a:t>
            </a:r>
            <a:br/>
            <a:r>
              <a:t>构建完整闭合回路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蚁群优化器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AntColonyOptimizer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协调各组件完成求解</a:t>
            </a:r>
            <a:br/>
            <a:r>
              <a:t>记录收敛数据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遗传增强器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GeneticEnhancer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锦标赛选择+OX交叉</a:t>
            </a:r>
            <a:br/>
            <a:r>
              <a:t>组合变异策略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2-opt优化器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TwoOptOptimizer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双层循环遍历边对</a:t>
            </a:r>
            <a:br/>
            <a:r>
              <a:t>反转操作消除交叉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384048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3840480"/>
            <a:ext cx="2697480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8679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自适应调整器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AdaptiveParameterAdjuster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7091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线性插值调整α/β</a:t>
            </a:r>
            <a:br/>
            <a:r>
              <a:t>前期探索后期利用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十、系统界面与功能展示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11/18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技术栈：Python 3.12  |  NumPy（数值计算）  |  PyQt5（GUI框架）  |  PyQtGraph（交互式图表）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参数配置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城市数量（10-200）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蚂蚁数量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α/β/ρ/Q 参数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GA参数：交叉率/变异率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03120"/>
            <a:ext cx="269748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算法运行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一键运行混合算法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实时更新进度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支持单策略/组合策略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自动记录收敛数据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03120"/>
            <a:ext cx="269748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可视化展示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最优路径实时绘制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收敛曲线动态更新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参数变化历史图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PyQtGraph高性能渲染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10312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697480" cy="4114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305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数据导出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JSON格式（完整数据）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TXT格式（摘要报告）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CSV格式（收敛数据）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一键导出实验结果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核心亮点：模块化设计  ·  参数灵活可调  ·  实时可视化  ·  多格式导出  ·  可扩展性强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十一、实验环境与实验方案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12/18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实验环境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操作系统：Windows 11 Home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处理器：Intel Core i5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内存：16GB RAM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编程语言：Python 3.12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核心库：NumPy / PyQt5 / PyQtGraph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统一参数配置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0" y="1783080"/>
            <a:ext cx="493776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城市数量：100  |  蚂蚁数量：50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α=1.0  β=2.0  ρ=0.5  Q=100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最大迭代次数：100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交叉率：0.85  变异率：0.15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每种组合独立运行10次取平均</a:t>
            </a: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54864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548640" y="3657600"/>
            <a:ext cx="530352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73152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6项评价指标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73152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最优距离：10次运行中的最短路径长度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运行时间：单次求解平均耗时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收敛次数：最优距离变化&lt;0.01时的迭代次数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首次迭代距离：反映初始解质量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最后下降迭代：反映搜索深度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变异系数(CV)：反映运行稳定性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6217920" y="3657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217920" y="365760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008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8种算法组合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40080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① 基本ACO（基准对照组）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② 自适应参数ACO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③ 遗传算法ACO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④ 2-opt ACO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⑤ 自适应+遗传  ⑥ 自适应+2-opt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⑦ 遗传+2-opt  ⑧ 全融合（三者全融合）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十二、单项改进实验结果对比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13/18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8686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↓3.95%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↓7.79%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347472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3474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362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★ 关键发现：2-opt是最关键改进策略，单独使用即降低最优距离7.79%，收敛提速75.9%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十三、混合算法综合性能对比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14/18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9552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28800"/>
                <a:gridCol w="1645920"/>
                <a:gridCol w="1188720"/>
                <a:gridCol w="14630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平均最优距离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运行时间(s)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收敛次数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8.13%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39.85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7.85%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43.76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44.06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自适应+遗传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829.41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36.12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35.07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自适应参数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851.33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1.65%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34.37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438912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4389120"/>
          <a:ext cx="5303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十四、关键结论分析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15/18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7315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算法组合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变异系数(CV)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稳定性评价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798.22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2.06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0.26%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E5F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自适应+2-opt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遗传+2-opt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795.23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全融合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797.45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基本ACO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865.61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1.05%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遗传算法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831.42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9728" cy="118872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结论一：2-opt是最关键改进策略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单独使用即降低距离7.79%</a:t>
            </a:r>
            <a:br/>
            <a:r>
              <a:t>收敛次数8.3→2.0</a:t>
            </a:r>
            <a:br/>
            <a:r>
              <a:t>含2-opt方案CV&lt;0.5%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109728" cy="11887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结论二：遗传+2-opt为最优组合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平均最优距离795.23</a:t>
            </a:r>
            <a:br/>
            <a:r>
              <a:t>改进幅度8.13%</a:t>
            </a:r>
            <a:br/>
            <a:r>
              <a:t>全局探索+局部强化协同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109728" cy="1188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结论三：自适应参数贡献有限但有价值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独立改进1.65%</a:t>
            </a:r>
            <a:br/>
            <a:r>
              <a:t>收敛次数8.3→5.7</a:t>
            </a:r>
            <a:br/>
            <a:r>
              <a:t>前期探索后期利用策略合理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44068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440680"/>
            <a:ext cx="10972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结论四：策略叠加 ≠ 性能提升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全融合(797.45)</a:t>
            </a:r>
            <a:br/>
            <a:r>
              <a:t>略逊于遗传+2-opt(795.23)</a:t>
            </a:r>
            <a:br/>
            <a:r>
              <a:t>自适应可能干扰遗传进化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十五、创新点总结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16/18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37160" cy="114300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640080" cy="640080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72B8"/>
                </a:solidFill>
                <a:latin typeface="微软雅黑" panose="020B0503020204020204" charset="-122"/>
              </a:defRPr>
            </a:pPr>
            <a:r>
              <a:t>多策略融合的混合蚁群算法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将自适应参数调整、遗传算法和2-opt局部搜索三种策略有机融合，兼顾广度探索与深度优化的平衡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137160" cy="1143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4F8A"/>
                </a:solidFill>
                <a:latin typeface="微软雅黑" panose="020B0503020204020204" charset="-122"/>
              </a:defRPr>
            </a:pPr>
            <a:r>
              <a:t>自适应参数调整策略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设计α/β随迭代进度动态变化的调整机制，前期重探索、后期重利用，有效解决参数敏感性问题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37160" cy="114300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8E5F"/>
                </a:solidFill>
                <a:latin typeface="微软雅黑" panose="020B0503020204020204" charset="-122"/>
              </a:defRPr>
            </a:pPr>
            <a:r>
              <a:t>遗传算法与蚁群算法协同优化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将遗传操作引入蚁群算法，通过选择/交叉/变异维持种群多样性，增强跳出局部最优的能力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799"/>
            <a:ext cx="109728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799"/>
            <a:ext cx="137160" cy="114300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86399"/>
            <a:ext cx="640080" cy="64008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49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功能完善的可视化求解系统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6071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基于PyQt5开发图形界面，实现参数配置、算法运行、实时可视化和多格式数据导出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十六、不足与未来工作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17/18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现有不足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大规模TSP（&gt;1000城市）运行时间仍较高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参数自适应机制仍有优化空间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暂不支持TSPLIB标准实例库导入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可视化界面功能相对基础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统计分析能力较弱（缺少置信区间、显著性检验）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混合算法收敛性理论分析不够深入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035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03520" cy="411480"/>
          </a:xfrm>
          <a:prstGeom prst="rect">
            <a:avLst/>
          </a:prstGeom>
          <a:solidFill>
            <a:srgbClr val="1E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算法：研究3-opt、Lin-Kernighan等更高效局部搜索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并行：引入多核并行计算加速算法执行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智能调参：基于强化学习的参数优化机制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功能：支持TSPLIB标准实例库导入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应用：推广到车辆路径、作业调度等场景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·  理论：深入分析混合算法的收敛性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2C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本系统为TSP求解提供了一种有效的混合优化方案，实验验证了"全局探索+局部强化"协同机制的有效性。</a:t>
            </a:r>
            <a:br/>
            <a:r>
              <a:t>混合蚁群算法在解的质量、收敛速度和运行稳定性方面均优于传统蚁群算法，具有较好的理论意义和应用价值。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72B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86F2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17520" cy="45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CAE8"/>
                </a:solidFill>
                <a:latin typeface="微软雅黑" panose="020B0503020204020204" charset="-122"/>
              </a:defRPr>
            </a:pPr>
            <a:r>
              <a:t>Thanks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答辩人：林重帆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BDE3"/>
                </a:solidFill>
                <a:latin typeface="微软雅黑" panose="020B0503020204020204" charset="-122"/>
              </a:defRPr>
            </a:pPr>
            <a:r>
              <a:t>敬请各位老师批评指正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7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8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9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0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1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2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3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4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5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ags/tag16.xml><?xml version="1.0" encoding="utf-8"?>
<p:tagLst xmlns:p="http://schemas.openxmlformats.org/presentationml/2006/main">
  <p:tag name="KSO_WM_DIAGRAM_VIRTUALLY_FRAME" val="{&quot;height&quot;:388.8,&quot;left&quot;:43.2,&quot;top&quot;:100.8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5235</Words>
  <Application>WPS 演示</Application>
  <PresentationFormat>On-screen Show (4:3)</PresentationFormat>
  <Paragraphs>742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</cp:lastModifiedBy>
  <cp:revision>7</cp:revision>
  <dcterms:created xsi:type="dcterms:W3CDTF">2013-01-27T09:14:00Z</dcterms:created>
  <dcterms:modified xsi:type="dcterms:W3CDTF">2026-06-14T02:45:58Z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F7F554C9B7DF47139678785084423C88_12</vt:lpwstr>
  </property>
</Properties>
</file>